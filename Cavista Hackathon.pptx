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2" r:id="rId5"/>
    <p:sldId id="263" r:id="rId6"/>
    <p:sldId id="264" r:id="rId7"/>
    <p:sldId id="261" r:id="rId8"/>
  </p:sldIdLst>
  <p:sldSz cx="12192000" cy="6858000"/>
  <p:notesSz cx="6858000" cy="9144000"/>
  <p:defaultTextStyle>
    <a:defPPr>
      <a:defRPr lang="en-B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B7AE6B-A1C2-4827-83C1-02FC3500ABE2}" v="7" dt="2026-02-22T05:17:18.0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lome Iris Kidmond" userId="04bad3d1627b6a26" providerId="LiveId" clId="{A92AAB8B-8090-47DB-8A94-7053144C1F52}"/>
    <pc:docChg chg="custSel modSld">
      <pc:chgData name="Salome Iris Kidmond" userId="04bad3d1627b6a26" providerId="LiveId" clId="{A92AAB8B-8090-47DB-8A94-7053144C1F52}" dt="2026-02-22T05:17:31.026" v="140" actId="20577"/>
      <pc:docMkLst>
        <pc:docMk/>
      </pc:docMkLst>
      <pc:sldChg chg="addSp delSp modSp mod">
        <pc:chgData name="Salome Iris Kidmond" userId="04bad3d1627b6a26" providerId="LiveId" clId="{A92AAB8B-8090-47DB-8A94-7053144C1F52}" dt="2026-02-22T05:17:31.026" v="140" actId="20577"/>
        <pc:sldMkLst>
          <pc:docMk/>
          <pc:sldMk cId="1927597203" sldId="257"/>
        </pc:sldMkLst>
        <pc:spChg chg="add mod">
          <ac:chgData name="Salome Iris Kidmond" userId="04bad3d1627b6a26" providerId="LiveId" clId="{A92AAB8B-8090-47DB-8A94-7053144C1F52}" dt="2026-02-22T05:15:42.281" v="133"/>
          <ac:spMkLst>
            <pc:docMk/>
            <pc:sldMk cId="1927597203" sldId="257"/>
            <ac:spMk id="3" creationId="{A2251D81-65D9-05B4-6C60-886D718220F0}"/>
          </ac:spMkLst>
        </pc:spChg>
        <pc:spChg chg="add mod">
          <ac:chgData name="Salome Iris Kidmond" userId="04bad3d1627b6a26" providerId="LiveId" clId="{A92AAB8B-8090-47DB-8A94-7053144C1F52}" dt="2026-02-22T05:17:31.026" v="140" actId="20577"/>
          <ac:spMkLst>
            <pc:docMk/>
            <pc:sldMk cId="1927597203" sldId="257"/>
            <ac:spMk id="4" creationId="{5BEEF596-5BFB-FB77-87A7-D1CBDDFE67E1}"/>
          </ac:spMkLst>
        </pc:spChg>
        <pc:spChg chg="del mod">
          <ac:chgData name="Salome Iris Kidmond" userId="04bad3d1627b6a26" providerId="LiveId" clId="{A92AAB8B-8090-47DB-8A94-7053144C1F52}" dt="2026-02-22T05:17:03.958" v="136"/>
          <ac:spMkLst>
            <pc:docMk/>
            <pc:sldMk cId="1927597203" sldId="257"/>
            <ac:spMk id="13" creationId="{E6EF368E-F55B-E2C9-3267-0B7E0A213E6E}"/>
          </ac:spMkLst>
        </pc:spChg>
        <pc:spChg chg="del mod">
          <ac:chgData name="Salome Iris Kidmond" userId="04bad3d1627b6a26" providerId="LiveId" clId="{A92AAB8B-8090-47DB-8A94-7053144C1F52}" dt="2026-02-22T05:15:30.304" v="75" actId="21"/>
          <ac:spMkLst>
            <pc:docMk/>
            <pc:sldMk cId="1927597203" sldId="257"/>
            <ac:spMk id="15" creationId="{A2251D81-65D9-05B4-6C60-886D718220F0}"/>
          </ac:spMkLst>
        </pc:spChg>
      </pc:sldChg>
      <pc:sldChg chg="addSp modSp mod">
        <pc:chgData name="Salome Iris Kidmond" userId="04bad3d1627b6a26" providerId="LiveId" clId="{A92AAB8B-8090-47DB-8A94-7053144C1F52}" dt="2026-02-22T04:50:22.897" v="39" actId="1076"/>
        <pc:sldMkLst>
          <pc:docMk/>
          <pc:sldMk cId="4090117806" sldId="262"/>
        </pc:sldMkLst>
        <pc:spChg chg="mod">
          <ac:chgData name="Salome Iris Kidmond" userId="04bad3d1627b6a26" providerId="LiveId" clId="{A92AAB8B-8090-47DB-8A94-7053144C1F52}" dt="2026-02-22T04:47:34.377" v="12" actId="1076"/>
          <ac:spMkLst>
            <pc:docMk/>
            <pc:sldMk cId="4090117806" sldId="262"/>
            <ac:spMk id="9" creationId="{7F592272-9266-4F58-CE66-0EDF0E1E50F1}"/>
          </ac:spMkLst>
        </pc:spChg>
        <pc:spChg chg="mod">
          <ac:chgData name="Salome Iris Kidmond" userId="04bad3d1627b6a26" providerId="LiveId" clId="{A92AAB8B-8090-47DB-8A94-7053144C1F52}" dt="2026-02-22T04:49:51.741" v="35" actId="1076"/>
          <ac:spMkLst>
            <pc:docMk/>
            <pc:sldMk cId="4090117806" sldId="262"/>
            <ac:spMk id="16" creationId="{C09F09B3-663E-53D1-4FA7-8D9D7CE245B5}"/>
          </ac:spMkLst>
        </pc:spChg>
        <pc:spChg chg="add mod">
          <ac:chgData name="Salome Iris Kidmond" userId="04bad3d1627b6a26" providerId="LiveId" clId="{A92AAB8B-8090-47DB-8A94-7053144C1F52}" dt="2026-02-22T04:50:15.178" v="38" actId="1076"/>
          <ac:spMkLst>
            <pc:docMk/>
            <pc:sldMk cId="4090117806" sldId="262"/>
            <ac:spMk id="19" creationId="{59963AA1-E35D-E686-A5FA-D6D458663901}"/>
          </ac:spMkLst>
        </pc:spChg>
        <pc:picChg chg="mod">
          <ac:chgData name="Salome Iris Kidmond" userId="04bad3d1627b6a26" providerId="LiveId" clId="{A92AAB8B-8090-47DB-8A94-7053144C1F52}" dt="2026-02-22T04:47:36.632" v="13" actId="1076"/>
          <ac:picMkLst>
            <pc:docMk/>
            <pc:sldMk cId="4090117806" sldId="262"/>
            <ac:picMk id="14" creationId="{E37D6777-7F67-BAB1-27AC-9BA27E8AC48E}"/>
          </ac:picMkLst>
        </pc:picChg>
        <pc:picChg chg="mod">
          <ac:chgData name="Salome Iris Kidmond" userId="04bad3d1627b6a26" providerId="LiveId" clId="{A92AAB8B-8090-47DB-8A94-7053144C1F52}" dt="2026-02-22T04:50:22.897" v="39" actId="1076"/>
          <ac:picMkLst>
            <pc:docMk/>
            <pc:sldMk cId="4090117806" sldId="262"/>
            <ac:picMk id="18" creationId="{04FF5A65-5458-CBCA-4030-87CFC25FC803}"/>
          </ac:picMkLst>
        </pc:picChg>
        <pc:picChg chg="add mod">
          <ac:chgData name="Salome Iris Kidmond" userId="04bad3d1627b6a26" providerId="LiveId" clId="{A92AAB8B-8090-47DB-8A94-7053144C1F52}" dt="2026-02-22T04:49:56.535" v="36" actId="1076"/>
          <ac:picMkLst>
            <pc:docMk/>
            <pc:sldMk cId="4090117806" sldId="262"/>
            <ac:picMk id="21" creationId="{7317732F-0223-E27E-745A-68FE7F37E6A9}"/>
          </ac:picMkLst>
        </pc:picChg>
      </pc:sldChg>
      <pc:sldChg chg="modSp mod">
        <pc:chgData name="Salome Iris Kidmond" userId="04bad3d1627b6a26" providerId="LiveId" clId="{A92AAB8B-8090-47DB-8A94-7053144C1F52}" dt="2026-02-22T04:47:05.249" v="9" actId="20577"/>
        <pc:sldMkLst>
          <pc:docMk/>
          <pc:sldMk cId="1989163078" sldId="265"/>
        </pc:sldMkLst>
        <pc:spChg chg="mod">
          <ac:chgData name="Salome Iris Kidmond" userId="04bad3d1627b6a26" providerId="LiveId" clId="{A92AAB8B-8090-47DB-8A94-7053144C1F52}" dt="2026-02-22T04:47:05.249" v="9" actId="20577"/>
          <ac:spMkLst>
            <pc:docMk/>
            <pc:sldMk cId="1989163078" sldId="265"/>
            <ac:spMk id="3" creationId="{01791E58-6592-6CE1-0A5C-29564CA6F54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9E095-8AEB-FB9D-3FF2-1B004963E2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C7757B-CDE1-7496-09EB-A001FC0D5A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BC9BA-EEC4-F92E-4300-B35EF7D7A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7AE9-2656-481D-AAEC-4F3EB0D7D1D6}" type="datetimeFigureOut">
              <a:rPr lang="en-BW" smtClean="0"/>
              <a:t>22/02/2026</a:t>
            </a:fld>
            <a:endParaRPr lang="en-B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26002-8752-107F-E139-EC086A4C2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97742-2B1B-DB52-6719-331012FF3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D9B6D-0617-4C7F-9B71-6FD7A6D8B8B6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92176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3DFF1-36DE-B888-D399-2E852BDE6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4ACEA-50F8-35B1-C654-33003B25B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023E7-DE18-7674-F1D4-EA058AEFF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7AE9-2656-481D-AAEC-4F3EB0D7D1D6}" type="datetimeFigureOut">
              <a:rPr lang="en-BW" smtClean="0"/>
              <a:t>22/02/2026</a:t>
            </a:fld>
            <a:endParaRPr lang="en-B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EF03D-66CA-28B2-C8EB-5A97EB428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0A129-0CEF-53FB-8B8A-EE1AE7DE4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D9B6D-0617-4C7F-9B71-6FD7A6D8B8B6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144665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71F56-001A-BA68-E67F-2B33D064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E01CAC-F08E-DE19-3D52-823342C48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22695-87DE-C68F-CA65-0439455A4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7AE9-2656-481D-AAEC-4F3EB0D7D1D6}" type="datetimeFigureOut">
              <a:rPr lang="en-BW" smtClean="0"/>
              <a:t>22/02/2026</a:t>
            </a:fld>
            <a:endParaRPr lang="en-B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C6B15-4FF7-6855-23E1-51F763EBA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96036-BBD7-BF0D-D937-9B4A4157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D9B6D-0617-4C7F-9B71-6FD7A6D8B8B6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3641820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07540-EC6D-3DFA-14A3-DA8450D94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0FAFA-7334-2FD6-247D-4EB8DABE10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D7138-BC14-CF98-6226-B4B8DC165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10031-6789-C144-23F8-BF8D9CD88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7AE9-2656-481D-AAEC-4F3EB0D7D1D6}" type="datetimeFigureOut">
              <a:rPr lang="en-BW" smtClean="0"/>
              <a:t>22/02/2026</a:t>
            </a:fld>
            <a:endParaRPr lang="en-B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A2F8-AD14-7407-4D38-A7BB69E91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A42108-530D-2FEA-2829-9A5F5ABDB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D9B6D-0617-4C7F-9B71-6FD7A6D8B8B6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4215330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8E315-1BED-63F3-A4F5-79952BCF6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76911-FB5A-DD4C-D1D4-A9BE7DB08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5E19EE-56BC-EC06-F619-D6F25ECE8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33A383-45A4-06F1-6C97-A6216950FC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36663-B879-CD3D-4C2B-7EC98820FD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47616F-F2E1-E5F6-B257-65F1E4BE5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7AE9-2656-481D-AAEC-4F3EB0D7D1D6}" type="datetimeFigureOut">
              <a:rPr lang="en-BW" smtClean="0"/>
              <a:t>22/02/2026</a:t>
            </a:fld>
            <a:endParaRPr lang="en-B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5E959B-E917-765E-5AD0-C0BCBF601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B5732D-5B47-47AC-1304-42FF4201F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D9B6D-0617-4C7F-9B71-6FD7A6D8B8B6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2666342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CDF13-69EA-A734-A79D-384477442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8D8455-231A-B53B-3B80-C1596F200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7AE9-2656-481D-AAEC-4F3EB0D7D1D6}" type="datetimeFigureOut">
              <a:rPr lang="en-BW" smtClean="0"/>
              <a:t>22/02/2026</a:t>
            </a:fld>
            <a:endParaRPr lang="en-B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8311B3-9F37-6FC6-6509-26736E393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870DA-7306-ED8B-0D15-9806B0DDF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D9B6D-0617-4C7F-9B71-6FD7A6D8B8B6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1635262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A5F176-7D45-232C-9DE6-197D12871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7AE9-2656-481D-AAEC-4F3EB0D7D1D6}" type="datetimeFigureOut">
              <a:rPr lang="en-BW" smtClean="0"/>
              <a:t>22/02/2026</a:t>
            </a:fld>
            <a:endParaRPr lang="en-B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5DE468-94F2-2074-3F21-24340A710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064AEC-0BFC-C723-1965-E323BD4EA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D9B6D-0617-4C7F-9B71-6FD7A6D8B8B6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1191962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20EAF-0898-49A9-F10F-4AFFD7FED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D16FE-204C-E7E1-8D08-426034181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87E7C-6B04-F680-00D9-E6FD54815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FDCB0-4131-1F61-2BBB-797168218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7AE9-2656-481D-AAEC-4F3EB0D7D1D6}" type="datetimeFigureOut">
              <a:rPr lang="en-BW" smtClean="0"/>
              <a:t>22/02/2026</a:t>
            </a:fld>
            <a:endParaRPr lang="en-B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535C5-59AA-D846-1FFE-CDD995DC8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2B6BA7-197D-0F18-E9BE-B076B3294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D9B6D-0617-4C7F-9B71-6FD7A6D8B8B6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1627054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3A76F-D211-B56F-2B25-740E75643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53C894-31B5-92A0-4227-903A2C7EF1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7C8FBF-70F7-23C6-DB15-5B586A144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F232B-DFA7-9A10-6FD6-AEC747E1F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7AE9-2656-481D-AAEC-4F3EB0D7D1D6}" type="datetimeFigureOut">
              <a:rPr lang="en-BW" smtClean="0"/>
              <a:t>22/02/2026</a:t>
            </a:fld>
            <a:endParaRPr lang="en-B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C4857A-65B0-9789-0741-DE6DF2FB9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72AC9F-0F7B-B1D4-055D-5DAB08B6C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D9B6D-0617-4C7F-9B71-6FD7A6D8B8B6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347219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19ACF-7BF4-501F-5600-E2842D95E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B9AC85-EDEA-D275-A8FC-71A0B159BC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29E54-07F9-F25E-9DF1-11C707E35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7AE9-2656-481D-AAEC-4F3EB0D7D1D6}" type="datetimeFigureOut">
              <a:rPr lang="en-BW" smtClean="0"/>
              <a:t>22/02/2026</a:t>
            </a:fld>
            <a:endParaRPr lang="en-B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00AA0-71D5-60D4-6087-843C791F9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61464-8917-81B7-1FA3-2A378F285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D9B6D-0617-4C7F-9B71-6FD7A6D8B8B6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777856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9C3857-9EBA-A315-0B20-03C151655F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0C3A0A-F731-3A74-2A95-D09D069CAF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C4C20-866D-FDF6-90DE-4152100FE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7AE9-2656-481D-AAEC-4F3EB0D7D1D6}" type="datetimeFigureOut">
              <a:rPr lang="en-BW" smtClean="0"/>
              <a:t>22/02/2026</a:t>
            </a:fld>
            <a:endParaRPr lang="en-B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FA4C-F01B-1438-99F9-4FA7211F3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D80FE-8CFC-831F-3F66-9560FB9DE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D9B6D-0617-4C7F-9B71-6FD7A6D8B8B6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2569671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B93535-D835-DA84-007F-BDDB4EFFC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9F663-2A5F-A5D2-08E4-28A1FB46B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89B72-09A6-32B2-F396-F8B5142540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307AE9-2656-481D-AAEC-4F3EB0D7D1D6}" type="datetimeFigureOut">
              <a:rPr lang="en-BW" smtClean="0"/>
              <a:t>22/02/2026</a:t>
            </a:fld>
            <a:endParaRPr lang="en-B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92447-72F2-F139-7AAA-F4C6768294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42062-56B1-8C48-9984-943FCB97D8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9D9B6D-0617-4C7F-9B71-6FD7A6D8B8B6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2918437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55/2020/8082341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ailynews.gov.bw/news-detail/70283?utm_source=chatgpt.com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51CC3-03C7-AB24-629C-414731C559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3075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bg2"/>
                </a:solidFill>
              </a:rPr>
              <a:t>Title:</a:t>
            </a:r>
            <a:r>
              <a:rPr lang="en-GB" dirty="0">
                <a:solidFill>
                  <a:schemeClr val="bg2"/>
                </a:solidFill>
              </a:rPr>
              <a:t> </a:t>
            </a:r>
            <a:r>
              <a:rPr lang="en-GB" b="1" dirty="0" err="1">
                <a:solidFill>
                  <a:schemeClr val="bg2"/>
                </a:solidFill>
              </a:rPr>
              <a:t>eConsultation</a:t>
            </a:r>
            <a:r>
              <a:rPr lang="en-GB" b="1" dirty="0">
                <a:solidFill>
                  <a:schemeClr val="bg2"/>
                </a:solidFill>
              </a:rPr>
              <a:t>: Bridging Doctors and Patients</a:t>
            </a:r>
            <a:br>
              <a:rPr lang="en-GB" dirty="0"/>
            </a:br>
            <a:endParaRPr lang="en-BW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DC2254-3D37-1ACD-E80C-2D1A65E105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3665" y="5057212"/>
            <a:ext cx="9144000" cy="1655762"/>
          </a:xfrm>
        </p:spPr>
        <p:txBody>
          <a:bodyPr/>
          <a:lstStyle/>
          <a:p>
            <a:endParaRPr lang="en-GB" dirty="0"/>
          </a:p>
          <a:p>
            <a:r>
              <a:rPr lang="en-GB" b="1" dirty="0" err="1">
                <a:solidFill>
                  <a:schemeClr val="bg2"/>
                </a:solidFill>
              </a:rPr>
              <a:t>NeuroWeb</a:t>
            </a:r>
            <a:r>
              <a:rPr lang="en-GB" b="1" dirty="0">
                <a:solidFill>
                  <a:schemeClr val="bg2"/>
                </a:solidFill>
              </a:rPr>
              <a:t> (University of Botswana) – Theme B</a:t>
            </a:r>
          </a:p>
          <a:p>
            <a:r>
              <a:rPr lang="en-GB" b="1" dirty="0">
                <a:solidFill>
                  <a:schemeClr val="bg2"/>
                </a:solidFill>
              </a:rPr>
              <a:t>CAVISTA HACKATHON</a:t>
            </a:r>
          </a:p>
          <a:p>
            <a:endParaRPr lang="en-GB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9645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92C6E-EFE6-FB69-56B5-6D832445E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6000" b="1" dirty="0">
                <a:solidFill>
                  <a:schemeClr val="bg2"/>
                </a:solidFill>
              </a:rPr>
              <a:t>PROBLEM STATEMENT</a:t>
            </a:r>
            <a:endParaRPr lang="en-BW" sz="6000" b="1" dirty="0">
              <a:solidFill>
                <a:schemeClr val="bg2"/>
              </a:solidFill>
            </a:endParaRPr>
          </a:p>
        </p:txBody>
      </p:sp>
      <p:pic>
        <p:nvPicPr>
          <p:cNvPr id="8" name="Content Placeholder 7" descr="A person in a blue shirt in a room with shelves of files&#10;&#10;AI-generated content may be incorrect.">
            <a:extLst>
              <a:ext uri="{FF2B5EF4-FFF2-40B4-BE49-F238E27FC236}">
                <a16:creationId xmlns:a16="http://schemas.microsoft.com/office/drawing/2014/main" id="{6614C2F8-D40D-E1B5-31E6-8412063C22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3390" y="1690686"/>
            <a:ext cx="3008565" cy="1958813"/>
          </a:xfrm>
          <a:prstGeom prst="rect">
            <a:avLst/>
          </a:prstGeom>
        </p:spPr>
      </p:pic>
      <p:pic>
        <p:nvPicPr>
          <p:cNvPr id="10" name="Picture 9" descr="A group of people sitting in a hallway&#10;&#10;AI-generated content may be incorrect.">
            <a:extLst>
              <a:ext uri="{FF2B5EF4-FFF2-40B4-BE49-F238E27FC236}">
                <a16:creationId xmlns:a16="http://schemas.microsoft.com/office/drawing/2014/main" id="{BCCA694D-BE94-D2EA-A47B-6006AC93D7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359" y="1690686"/>
            <a:ext cx="2625213" cy="19588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BCE19E-64C2-6E78-2A59-F5C0BA657CBD}"/>
              </a:ext>
            </a:extLst>
          </p:cNvPr>
          <p:cNvSpPr txBox="1"/>
          <p:nvPr/>
        </p:nvSpPr>
        <p:spPr>
          <a:xfrm>
            <a:off x="597036" y="4058375"/>
            <a:ext cx="37389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/>
                </a:solidFill>
              </a:rPr>
              <a:t>30% of adults have hypertension, with only 9% controlled , a major risk for heart disease and stroke.[1]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/>
                </a:solidFill>
              </a:rPr>
              <a:t>5.8% of adults have diabetes.[2]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/>
                </a:solidFill>
              </a:rPr>
              <a:t>25% of adults have at least one chronic condition (e.g., hypertension, HIV, asthma).[3]</a:t>
            </a:r>
            <a:endParaRPr lang="en-BW" dirty="0">
              <a:solidFill>
                <a:schemeClr val="bg2"/>
              </a:solidFill>
            </a:endParaRPr>
          </a:p>
        </p:txBody>
      </p:sp>
      <p:pic>
        <p:nvPicPr>
          <p:cNvPr id="17" name="Picture 16" descr="A person with his hand on his forehead&#10;&#10;AI-generated content may be incorrect.">
            <a:extLst>
              <a:ext uri="{FF2B5EF4-FFF2-40B4-BE49-F238E27FC236}">
                <a16:creationId xmlns:a16="http://schemas.microsoft.com/office/drawing/2014/main" id="{5279DFBC-8D20-67C4-4294-FF41E20C4F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347" y="1734604"/>
            <a:ext cx="2701413" cy="18709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EEF596-5BFB-FB77-87A7-D1CBDDFE67E1}"/>
              </a:ext>
            </a:extLst>
          </p:cNvPr>
          <p:cNvSpPr txBox="1"/>
          <p:nvPr/>
        </p:nvSpPr>
        <p:spPr>
          <a:xfrm>
            <a:off x="5014759" y="4349274"/>
            <a:ext cx="63390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In Botswana, patients face long waiting times, and doctors struggle to access scattered patient records quickly, increasing the risk of misdiagnosis and reducing healthcare </a:t>
            </a:r>
            <a:r>
              <a:rPr lang="en-GB">
                <a:solidFill>
                  <a:schemeClr val="bg1"/>
                </a:solidFill>
              </a:rPr>
              <a:t>efficiency.</a:t>
            </a:r>
            <a:endParaRPr lang="en-B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597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FB0CA-F44D-F0FA-5754-EA0FA151A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6000" b="1" dirty="0">
                <a:solidFill>
                  <a:schemeClr val="bg2"/>
                </a:solidFill>
              </a:rPr>
              <a:t>DEFINITION OF TERMS</a:t>
            </a:r>
            <a:endParaRPr lang="en-BW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91E58-6592-6CE1-0A5C-29564CA6F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900" dirty="0">
                <a:solidFill>
                  <a:schemeClr val="bg2"/>
                </a:solidFill>
              </a:rPr>
              <a:t>What is Hypertension? A condition where the force of blood pushing against artery walls is consistently too high.</a:t>
            </a:r>
          </a:p>
          <a:p>
            <a:pPr marL="0" indent="0">
              <a:buNone/>
            </a:pPr>
            <a:r>
              <a:rPr lang="en-GB" sz="1900" dirty="0">
                <a:solidFill>
                  <a:schemeClr val="bg2"/>
                </a:solidFill>
              </a:rPr>
              <a:t>1️⃣ Systolic Pressure (top number)- measures pressure when the heart is beating (pumping blood).</a:t>
            </a:r>
          </a:p>
          <a:p>
            <a:pPr marL="0" indent="0">
              <a:buNone/>
            </a:pPr>
            <a:r>
              <a:rPr lang="en-GB" sz="1900" dirty="0">
                <a:solidFill>
                  <a:schemeClr val="bg2"/>
                </a:solidFill>
              </a:rPr>
              <a:t>2️⃣ Diastolic Pressure (bottom number)- measures pressure when the heart is resting between beats.</a:t>
            </a:r>
          </a:p>
          <a:p>
            <a:r>
              <a:rPr lang="en-GB" sz="1900" dirty="0">
                <a:solidFill>
                  <a:schemeClr val="bg2"/>
                </a:solidFill>
              </a:rPr>
              <a:t>According to the World Health Organization: Normal BP is around 120/80 mmHg</a:t>
            </a:r>
          </a:p>
          <a:p>
            <a:r>
              <a:rPr lang="en-GB" sz="1900" dirty="0">
                <a:solidFill>
                  <a:schemeClr val="bg2"/>
                </a:solidFill>
              </a:rPr>
              <a:t>Hypertension is diagnosed when:</a:t>
            </a:r>
          </a:p>
          <a:p>
            <a:pPr lvl="1"/>
            <a:r>
              <a:rPr lang="en-GB" sz="1900" dirty="0">
                <a:solidFill>
                  <a:schemeClr val="bg2"/>
                </a:solidFill>
              </a:rPr>
              <a:t>Systolic ≥ 140 mmHg and/or</a:t>
            </a:r>
          </a:p>
          <a:p>
            <a:pPr lvl="1"/>
            <a:r>
              <a:rPr lang="en-GB" sz="1900" dirty="0">
                <a:solidFill>
                  <a:schemeClr val="bg2"/>
                </a:solidFill>
              </a:rPr>
              <a:t>Diastolic ≥ 90 mmHg on multiple readings</a:t>
            </a:r>
          </a:p>
          <a:p>
            <a:endParaRPr lang="en-BW" dirty="0"/>
          </a:p>
        </p:txBody>
      </p:sp>
      <p:pic>
        <p:nvPicPr>
          <p:cNvPr id="1026" name="Picture 2" descr="High blood pressure overview - myDr.com.au">
            <a:extLst>
              <a:ext uri="{FF2B5EF4-FFF2-40B4-BE49-F238E27FC236}">
                <a16:creationId xmlns:a16="http://schemas.microsoft.com/office/drawing/2014/main" id="{4425B68F-C916-3BD8-DB57-4E11D4D4B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9284" y="4097484"/>
            <a:ext cx="3327674" cy="221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9163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A8C4BF-9331-6108-2C87-0248740AB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A3526-F880-C9D8-1F3E-EBEBC8323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6000" b="1" dirty="0">
                <a:solidFill>
                  <a:schemeClr val="bg2"/>
                </a:solidFill>
              </a:rPr>
              <a:t>SOLUTION</a:t>
            </a:r>
            <a:endParaRPr lang="en-BW" sz="6000" b="1" dirty="0">
              <a:solidFill>
                <a:schemeClr val="bg2"/>
              </a:solidFill>
            </a:endParaRPr>
          </a:p>
        </p:txBody>
      </p:sp>
      <p:pic>
        <p:nvPicPr>
          <p:cNvPr id="14" name="Content Placeholder 13" descr="A doctor showing a tablet to a person&#10;&#10;AI-generated content may be incorrect.">
            <a:extLst>
              <a:ext uri="{FF2B5EF4-FFF2-40B4-BE49-F238E27FC236}">
                <a16:creationId xmlns:a16="http://schemas.microsoft.com/office/drawing/2014/main" id="{E37D6777-7F67-BAB1-27AC-9BA27E8AC4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67095"/>
            <a:ext cx="2733831" cy="18192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592272-9266-4F58-CE66-0EDF0E1E50F1}"/>
              </a:ext>
            </a:extLst>
          </p:cNvPr>
          <p:cNvSpPr txBox="1"/>
          <p:nvPr/>
        </p:nvSpPr>
        <p:spPr>
          <a:xfrm>
            <a:off x="609599" y="4306989"/>
            <a:ext cx="32839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Supports voice and text consultations, automatically transcribing conversations for accuracy and record-keeping</a:t>
            </a:r>
            <a:endParaRPr lang="en-BW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9F09B3-663E-53D1-4FA7-8D9D7CE245B5}"/>
              </a:ext>
            </a:extLst>
          </p:cNvPr>
          <p:cNvSpPr txBox="1"/>
          <p:nvPr/>
        </p:nvSpPr>
        <p:spPr>
          <a:xfrm>
            <a:off x="4591668" y="4307022"/>
            <a:ext cx="35002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A highly secure online platform connecting doctors and patients in real-time (End to end encrypted)</a:t>
            </a:r>
          </a:p>
        </p:txBody>
      </p:sp>
      <p:pic>
        <p:nvPicPr>
          <p:cNvPr id="18" name="Picture 17" descr="A person holding a phone&#10;&#10;AI-generated content may be incorrect.">
            <a:extLst>
              <a:ext uri="{FF2B5EF4-FFF2-40B4-BE49-F238E27FC236}">
                <a16:creationId xmlns:a16="http://schemas.microsoft.com/office/drawing/2014/main" id="{04FF5A65-5458-CBCA-4030-87CFC25FC8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7417" y="2051073"/>
            <a:ext cx="2213542" cy="182458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9963AA1-E35D-E686-A5FA-D6D458663901}"/>
              </a:ext>
            </a:extLst>
          </p:cNvPr>
          <p:cNvSpPr txBox="1"/>
          <p:nvPr/>
        </p:nvSpPr>
        <p:spPr>
          <a:xfrm>
            <a:off x="8836744" y="4241379"/>
            <a:ext cx="25170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Provide visual representation of data (seeing is believing)</a:t>
            </a:r>
            <a:endParaRPr lang="en-BW" dirty="0">
              <a:solidFill>
                <a:schemeClr val="bg1"/>
              </a:solidFill>
            </a:endParaRPr>
          </a:p>
          <a:p>
            <a:endParaRPr lang="en-BW" dirty="0"/>
          </a:p>
        </p:txBody>
      </p:sp>
      <p:pic>
        <p:nvPicPr>
          <p:cNvPr id="21" name="Picture 20" descr="A graph showing the number of days&#10;&#10;AI-generated content may be incorrect.">
            <a:extLst>
              <a:ext uri="{FF2B5EF4-FFF2-40B4-BE49-F238E27FC236}">
                <a16:creationId xmlns:a16="http://schemas.microsoft.com/office/drawing/2014/main" id="{7317732F-0223-E27E-745A-68FE7F37E6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230" y="2056413"/>
            <a:ext cx="2610570" cy="1819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117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4BC10E-9685-3D11-E9B0-2FCAF86E2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B35C3-CBD2-AC35-9537-CDC5A871C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6000" b="1" dirty="0">
                <a:solidFill>
                  <a:schemeClr val="bg2"/>
                </a:solidFill>
              </a:rPr>
              <a:t>IMPACTS AND BENEFITS</a:t>
            </a:r>
            <a:endParaRPr lang="en-BW" sz="6000" b="1" dirty="0">
              <a:solidFill>
                <a:schemeClr val="bg2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EFB8ED-A461-AF06-51E2-3DCA80761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330" y="2552282"/>
            <a:ext cx="6125308" cy="3060739"/>
          </a:xfrm>
        </p:spPr>
        <p:txBody>
          <a:bodyPr>
            <a:normAutofit/>
          </a:bodyPr>
          <a:lstStyle/>
          <a:p>
            <a:r>
              <a:rPr lang="en-GB" sz="1800" dirty="0">
                <a:solidFill>
                  <a:schemeClr val="bg2"/>
                </a:solidFill>
              </a:rPr>
              <a:t>Reduce preventable deaths by providing timely access to medical advice</a:t>
            </a:r>
          </a:p>
          <a:p>
            <a:r>
              <a:rPr lang="en-GB" sz="1800" dirty="0">
                <a:solidFill>
                  <a:schemeClr val="bg2"/>
                </a:solidFill>
              </a:rPr>
              <a:t>Increase healthcare efficiency by optimizing doctor-patient consultations</a:t>
            </a:r>
          </a:p>
          <a:p>
            <a:r>
              <a:rPr lang="en-GB" sz="1800" dirty="0">
                <a:solidFill>
                  <a:schemeClr val="bg2"/>
                </a:solidFill>
              </a:rPr>
              <a:t>Track patient history digitally, improving follow-ups and treatment outcomes</a:t>
            </a:r>
          </a:p>
          <a:p>
            <a:r>
              <a:rPr lang="en-GB" sz="1800" dirty="0">
                <a:solidFill>
                  <a:schemeClr val="bg2"/>
                </a:solidFill>
              </a:rPr>
              <a:t>Potential to scale nationwide, reaching even rural communities</a:t>
            </a:r>
            <a:endParaRPr lang="en-BW" sz="1800" dirty="0">
              <a:solidFill>
                <a:schemeClr val="bg2"/>
              </a:solidFill>
            </a:endParaRPr>
          </a:p>
        </p:txBody>
      </p:sp>
      <p:pic>
        <p:nvPicPr>
          <p:cNvPr id="14" name="Picture 13" descr="A doctor and a patient&#10;&#10;AI-generated content may be incorrect.">
            <a:extLst>
              <a:ext uri="{FF2B5EF4-FFF2-40B4-BE49-F238E27FC236}">
                <a16:creationId xmlns:a16="http://schemas.microsoft.com/office/drawing/2014/main" id="{C54C34EC-08AF-B964-8EA4-A791571EA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620" y="2152610"/>
            <a:ext cx="4478890" cy="306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135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64B748-67BB-AE2A-8452-325622E4A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6207B-5FB2-459F-7E23-34269990D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6000" b="1" dirty="0">
                <a:solidFill>
                  <a:schemeClr val="bg2"/>
                </a:solidFill>
              </a:rPr>
              <a:t>REFERENCES</a:t>
            </a:r>
            <a:endParaRPr lang="en-BW" sz="6000" b="1" dirty="0">
              <a:solidFill>
                <a:schemeClr val="bg2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BC367-FA5E-DEDA-D070-4F12037B3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BW" sz="1800" dirty="0" err="1">
                <a:solidFill>
                  <a:schemeClr val="bg1"/>
                </a:solidFill>
              </a:rPr>
              <a:t>Tapela</a:t>
            </a:r>
            <a:r>
              <a:rPr lang="en-BW" sz="1800" dirty="0">
                <a:solidFill>
                  <a:schemeClr val="bg1"/>
                </a:solidFill>
              </a:rPr>
              <a:t>, N. M., Clifton, L., </a:t>
            </a:r>
            <a:r>
              <a:rPr lang="en-BW" sz="1800" dirty="0" err="1">
                <a:solidFill>
                  <a:schemeClr val="bg1"/>
                </a:solidFill>
              </a:rPr>
              <a:t>Tshisimogo</a:t>
            </a:r>
            <a:r>
              <a:rPr lang="en-BW" sz="1800" dirty="0">
                <a:solidFill>
                  <a:schemeClr val="bg1"/>
                </a:solidFill>
              </a:rPr>
              <a:t>, G., Gaborone, M., </a:t>
            </a:r>
            <a:r>
              <a:rPr lang="en-BW" sz="1800" dirty="0" err="1">
                <a:solidFill>
                  <a:schemeClr val="bg1"/>
                </a:solidFill>
              </a:rPr>
              <a:t>Madidimalo</a:t>
            </a:r>
            <a:r>
              <a:rPr lang="en-BW" sz="1800" dirty="0">
                <a:solidFill>
                  <a:schemeClr val="bg1"/>
                </a:solidFill>
              </a:rPr>
              <a:t>, T., Letsatsi, V., </a:t>
            </a:r>
            <a:r>
              <a:rPr lang="en-BW" sz="1800" dirty="0" err="1">
                <a:solidFill>
                  <a:schemeClr val="bg1"/>
                </a:solidFill>
              </a:rPr>
              <a:t>Masupe</a:t>
            </a:r>
            <a:r>
              <a:rPr lang="en-BW" sz="1800" dirty="0">
                <a:solidFill>
                  <a:schemeClr val="bg1"/>
                </a:solidFill>
              </a:rPr>
              <a:t>, T., </a:t>
            </a:r>
            <a:r>
              <a:rPr lang="en-BW" sz="1800" dirty="0" err="1">
                <a:solidFill>
                  <a:schemeClr val="bg1"/>
                </a:solidFill>
              </a:rPr>
              <a:t>Mosepele</a:t>
            </a:r>
            <a:r>
              <a:rPr lang="en-BW" sz="1800" dirty="0">
                <a:solidFill>
                  <a:schemeClr val="bg1"/>
                </a:solidFill>
              </a:rPr>
              <a:t>, M., </a:t>
            </a:r>
            <a:r>
              <a:rPr lang="en-BW" sz="1800" dirty="0" err="1">
                <a:solidFill>
                  <a:schemeClr val="bg1"/>
                </a:solidFill>
              </a:rPr>
              <a:t>Makhema</a:t>
            </a:r>
            <a:r>
              <a:rPr lang="en-BW" sz="1800" dirty="0">
                <a:solidFill>
                  <a:schemeClr val="bg1"/>
                </a:solidFill>
              </a:rPr>
              <a:t>, J., Lockman, S., &amp; Hunter, D. J. (2020). Prevalence and Determinants of Hypertension Awareness, Treatment, and Control in Botswana: A Nationally Representative Population-Based Survey. International Journal of Hypertension, 2020, 8082341. </a:t>
            </a:r>
            <a:r>
              <a:rPr lang="en-BW" sz="1800" dirty="0">
                <a:solidFill>
                  <a:schemeClr val="bg1"/>
                </a:solidFill>
                <a:hlinkClick r:id="rId3"/>
              </a:rPr>
              <a:t>https://doi.org/10.1155/2020/8082341</a:t>
            </a:r>
            <a:endParaRPr lang="en-GB" sz="1800" dirty="0">
              <a:solidFill>
                <a:schemeClr val="bg1"/>
              </a:solidFill>
            </a:endParaRPr>
          </a:p>
          <a:p>
            <a:r>
              <a:rPr lang="en-GB" sz="1800" dirty="0">
                <a:solidFill>
                  <a:schemeClr val="bg1"/>
                </a:solidFill>
                <a:hlinkClick r:id="rId4"/>
              </a:rPr>
              <a:t>https://dailynews.gov.bw/news-detail/70283?utm_source=chatgpt.com</a:t>
            </a:r>
            <a:endParaRPr lang="en-GB" sz="1800" dirty="0">
              <a:solidFill>
                <a:schemeClr val="bg1"/>
              </a:solidFill>
            </a:endParaRPr>
          </a:p>
          <a:p>
            <a:r>
              <a:rPr lang="en-BW" sz="1800" dirty="0">
                <a:solidFill>
                  <a:schemeClr val="bg1"/>
                </a:solidFill>
              </a:rPr>
              <a:t>https://era.ed.ac.uk/items/68f470a2-9f5b-414e-8cf3-5ac64752c2c7</a:t>
            </a:r>
          </a:p>
        </p:txBody>
      </p:sp>
    </p:spTree>
    <p:extLst>
      <p:ext uri="{BB962C8B-B14F-4D97-AF65-F5344CB8AC3E}">
        <p14:creationId xmlns:p14="http://schemas.microsoft.com/office/powerpoint/2010/main" val="3453045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137786-9AEA-B140-062E-5DED0EF2B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31828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GB" sz="9600" dirty="0">
                <a:solidFill>
                  <a:schemeClr val="bg1"/>
                </a:solidFill>
              </a:rPr>
              <a:t>THANK YOU!!!</a:t>
            </a:r>
            <a:endParaRPr lang="en-BW" sz="9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288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401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Title: eConsultation: Bridging Doctors and Patients </vt:lpstr>
      <vt:lpstr>PROBLEM STATEMENT</vt:lpstr>
      <vt:lpstr>DEFINITION OF TERMS</vt:lpstr>
      <vt:lpstr>SOLUTION</vt:lpstr>
      <vt:lpstr>IMPACTS AND BENEFITS</vt:lpstr>
      <vt:lpstr>REFERENCES</vt:lpstr>
      <vt:lpstr>THANK YOU!!!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Salome Iris Kidmond</dc:creator>
  <cp:lastModifiedBy>Salome Iris Kidmond</cp:lastModifiedBy>
  <cp:revision>1</cp:revision>
  <dcterms:created xsi:type="dcterms:W3CDTF">2026-02-22T01:04:26Z</dcterms:created>
  <dcterms:modified xsi:type="dcterms:W3CDTF">2026-02-22T05:17:32Z</dcterms:modified>
</cp:coreProperties>
</file>